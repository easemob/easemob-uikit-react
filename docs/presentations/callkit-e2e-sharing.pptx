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914400"/>
            <a:ext cx="2560320" cy="2560320"/>
          </a:xfrm>
          <a:prstGeom prst="ellipse">
            <a:avLst/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45168" y="1527048"/>
            <a:ext cx="1325880" cy="1325880"/>
          </a:xfrm>
          <a:prstGeom prst="ellipse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84248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012680" y="2862072"/>
            <a:ext cx="0" cy="1837944"/>
          </a:xfrm>
          <a:prstGeom prst="line">
            <a:avLst/>
          </a:prstGeom>
          <a:ln w="635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914400"/>
            <a:ext cx="59436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C7B4"/>
                </a:solidFill>
                <a:latin typeface="PingFang SC"/>
              </a:defRPr>
            </a:pPr>
            <a:r>
              <a:t>CALLKIT / E2E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8321040" cy="1828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把通话测到</a:t>
            </a:r>
          </a:p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PingFang SC"/>
              </a:defRPr>
            </a:pPr>
            <a:r>
              <a:t>真的听见、真的看见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941063"/>
            <a:ext cx="8503920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B9C5D8"/>
                </a:solidFill>
                <a:latin typeface="PingFang SC"/>
              </a:defRPr>
            </a:pPr>
            <a:r>
              <a:t>从信令状态，到多设备归属，再到真实 RTC 媒体内容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193792"/>
            <a:ext cx="3959352" cy="530352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303520"/>
            <a:ext cx="3483864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团队分享  ·  10–15 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17352" y="6446520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C9AB3"/>
                </a:solidFill>
                <a:latin typeface="PingFang SC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5B8DEF"/>
                </a:solidFill>
                <a:latin typeface="PingFang SC"/>
              </a:defRPr>
            </a:pPr>
            <a:r>
              <a:t>01 / 测试目标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642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9243A"/>
                </a:solidFill>
                <a:latin typeface="PingFang SC"/>
              </a:defRPr>
            </a:pPr>
            <a:r>
              <a:t>一次通话成功，到底意味着什么？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91656"/>
            <a:ext cx="11064240" cy="0"/>
          </a:xfrm>
          <a:prstGeom prst="line">
            <a:avLst/>
          </a:prstGeom>
          <a:ln w="1778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73952"/>
            <a:ext cx="5029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18A"/>
                </a:solidFill>
                <a:latin typeface="PingFang SC"/>
              </a:defRPr>
            </a:pPr>
            <a:r>
              <a:t>CALLKIT · E2E 测试实践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2718A"/>
                </a:solidFill>
                <a:latin typeface="PingFang SC"/>
              </a:defRPr>
            </a:pPr>
            <a:r>
              <a:t>02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6416" y="365760"/>
            <a:ext cx="1417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2718A"/>
                </a:solidFill>
                <a:latin typeface="PingFang SC"/>
              </a:defRPr>
            </a:pPr>
            <a:r>
              <a:t>约 1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36192"/>
            <a:ext cx="109728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62718A"/>
                </a:solidFill>
                <a:latin typeface="PingFang SC"/>
              </a:defRPr>
            </a:pPr>
            <a:r>
              <a:t>点击“接听”只是开始。我们要同时证明四件事。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23160"/>
            <a:ext cx="257860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23160"/>
            <a:ext cx="73152" cy="248716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624328"/>
            <a:ext cx="21214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信令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172968"/>
            <a:ext cx="2103120" cy="1545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创建 / 接听 / 挂断的服务端状态正确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2633472"/>
            <a:ext cx="5029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5B8DEF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8" y="2423160"/>
            <a:ext cx="257860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7288" y="2423160"/>
            <a:ext cx="73152" cy="2487168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4176" y="2624328"/>
            <a:ext cx="21214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4176" y="3172968"/>
            <a:ext cx="2103120" cy="1545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同账号多端只有正确设备进入通话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633472"/>
            <a:ext cx="5029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22C7B4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2423160"/>
            <a:ext cx="257860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216" y="2423160"/>
            <a:ext cx="73152" cy="2487168"/>
          </a:xfrm>
          <a:prstGeom prst="rect">
            <a:avLst/>
          </a:prstGeom>
          <a:solidFill>
            <a:srgbClr val="F4B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624328"/>
            <a:ext cx="21214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界面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172968"/>
            <a:ext cx="2103120" cy="1545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邀请、通话中、结束状态与快照一致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2633472"/>
            <a:ext cx="5029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F4B759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2423160"/>
            <a:ext cx="257860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53144" y="2423160"/>
            <a:ext cx="73152" cy="2487168"/>
          </a:xfrm>
          <a:prstGeom prst="rect">
            <a:avLst/>
          </a:prstGeom>
          <a:solidFill>
            <a:srgbClr val="EC6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2624328"/>
            <a:ext cx="21214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媒体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172968"/>
            <a:ext cx="2103120" cy="1545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远端真的收到持续变化的音视频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0232" y="2633472"/>
            <a:ext cx="5029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300" b="1">
                <a:solidFill>
                  <a:srgbClr val="EC6471"/>
                </a:solidFill>
                <a:latin typeface="PingFang SC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321808"/>
            <a:ext cx="10826496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19243A"/>
                </a:solidFill>
                <a:latin typeface="PingFang SC"/>
              </a:defRPr>
            </a:pPr>
            <a:r>
              <a:t>验证链条：用户操作 → SDK / 服务端 → CallKit → RTC 远端输出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2C7B4"/>
                </a:solidFill>
                <a:latin typeface="PingFang SC"/>
              </a:defRPr>
            </a:pPr>
            <a:r>
              <a:t>02 / 运行方式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642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FFFFF"/>
                </a:solidFill>
                <a:latin typeface="PingFang SC"/>
              </a:defRPr>
            </a:pPr>
            <a:r>
              <a:t>一套用例，串起真实链路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91656"/>
            <a:ext cx="11064240" cy="0"/>
          </a:xfrm>
          <a:prstGeom prst="line">
            <a:avLst/>
          </a:prstGeom>
          <a:ln w="17780">
            <a:solidFill>
              <a:srgbClr val="35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73952"/>
            <a:ext cx="5029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8C9AB3"/>
                </a:solidFill>
                <a:latin typeface="PingFang SC"/>
              </a:defRPr>
            </a:pPr>
            <a:r>
              <a:t>CALLKIT · E2E 测试实践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8C9AB3"/>
                </a:solidFill>
                <a:latin typeface="PingFang SC"/>
              </a:defRPr>
            </a:pPr>
            <a:r>
              <a:t>03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6416" y="365760"/>
            <a:ext cx="1417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C9AB3"/>
                </a:solidFill>
                <a:latin typeface="PingFang SC"/>
              </a:defRPr>
            </a:pPr>
            <a:r>
              <a:t>约 1.5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B9C5D8"/>
                </a:solidFill>
                <a:latin typeface="PingFang SC"/>
              </a:defRPr>
            </a:pPr>
            <a:r>
              <a:t>Playwright 驱动独立浏览器上下文；每端使用不同 deviceId。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40864"/>
            <a:ext cx="2057400" cy="1124712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2578608"/>
            <a:ext cx="612648" cy="612648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697480"/>
            <a:ext cx="6126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79192"/>
            <a:ext cx="9875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主叫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2340864"/>
            <a:ext cx="2057400" cy="1124712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64408" y="2578608"/>
            <a:ext cx="612648" cy="612648"/>
          </a:xfrm>
          <a:prstGeom prst="ellipse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4408" y="2697480"/>
            <a:ext cx="6126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679192"/>
            <a:ext cx="9875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被叫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340864"/>
            <a:ext cx="2057400" cy="1124712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41848" y="2578608"/>
            <a:ext cx="612648" cy="612648"/>
          </a:xfrm>
          <a:prstGeom prst="ellipse">
            <a:avLst/>
          </a:prstGeom>
          <a:solidFill>
            <a:srgbClr val="F4B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1848" y="2697480"/>
            <a:ext cx="6126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79192"/>
            <a:ext cx="98755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t>第三人 / 同账号另一设备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340864"/>
            <a:ext cx="3182112" cy="1124712"/>
          </a:xfrm>
          <a:prstGeom prst="roundRect">
            <a:avLst>
              <a:gd name="adj" fmla="val 12000"/>
            </a:avLst>
          </a:prstGeom>
          <a:solidFill>
            <a:srgbClr val="26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679192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真实 IM / 信令 / RTC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2907792"/>
            <a:ext cx="320040" cy="0"/>
          </a:xfrm>
          <a:prstGeom prst="line">
            <a:avLst/>
          </a:prstGeom>
          <a:ln w="381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20640" y="2907792"/>
            <a:ext cx="320040" cy="0"/>
          </a:xfrm>
          <a:prstGeom prst="line">
            <a:avLst/>
          </a:prstGeom>
          <a:ln w="381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98079" y="2907792"/>
            <a:ext cx="731521" cy="0"/>
          </a:xfrm>
          <a:prstGeom prst="line">
            <a:avLst/>
          </a:prstGeom>
          <a:ln w="381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4005072"/>
            <a:ext cx="10725912" cy="1261872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270248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C7B4"/>
                </a:solidFill>
                <a:latin typeface="PingFang SC"/>
              </a:defRPr>
            </a:pPr>
            <a:r>
              <a:t>断言与证据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187952"/>
            <a:ext cx="8183879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PingFang SC"/>
              </a:defRPr>
            </a:pPr>
            <a:r>
              <a:t>服务端快照   ·   UI 状态   ·   浏览器事件 / trace   ·   远端音视频附件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5687568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B9C5D8"/>
                </a:solidFill>
                <a:latin typeface="PingFang SC"/>
              </a:defRPr>
            </a:pPr>
            <a:r>
              <a:t>关键点：测试输入可控，服务端与 RTC 仍走真实链路。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5B8DEF"/>
                </a:solidFill>
                <a:latin typeface="PingFang SC"/>
              </a:defRPr>
            </a:pPr>
            <a:r>
              <a:t>03 / 视频验证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642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9243A"/>
                </a:solidFill>
                <a:latin typeface="PingFang SC"/>
              </a:defRPr>
            </a:pPr>
            <a:r>
              <a:t>真实视频：看见正确的人，也看见新画面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91656"/>
            <a:ext cx="11064240" cy="0"/>
          </a:xfrm>
          <a:prstGeom prst="line">
            <a:avLst/>
          </a:prstGeom>
          <a:ln w="1778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73952"/>
            <a:ext cx="5029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18A"/>
                </a:solidFill>
                <a:latin typeface="PingFang SC"/>
              </a:defRPr>
            </a:pPr>
            <a:r>
              <a:t>CALLKIT · E2E 测试实践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2718A"/>
                </a:solidFill>
                <a:latin typeface="PingFang SC"/>
              </a:defRPr>
            </a:pPr>
            <a:r>
              <a:t>04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6416" y="365760"/>
            <a:ext cx="1417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2718A"/>
                </a:solidFill>
                <a:latin typeface="PingFang SC"/>
              </a:defRPr>
            </a:pPr>
            <a:r>
              <a:t>约 2 分钟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3429000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37360"/>
            <a:ext cx="73152" cy="171907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3852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发送端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87168"/>
            <a:ext cx="2953512" cy="7772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Canvas 生成动态色块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替换已发布视频轨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901952"/>
            <a:ext cx="38404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5B8DEF"/>
                </a:solidFill>
                <a:latin typeface="PingFang SC"/>
              </a:defRPr>
            </a:pPr>
            <a:r>
              <a:t>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2596896"/>
            <a:ext cx="338328" cy="0"/>
          </a:xfrm>
          <a:prstGeom prst="line">
            <a:avLst/>
          </a:prstGeom>
          <a:ln w="381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62272" y="1737360"/>
            <a:ext cx="3429000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62272" y="1737360"/>
            <a:ext cx="73152" cy="1719072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93852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真实传输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487168"/>
            <a:ext cx="2953512" cy="7772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Agora RTC 发布、订阅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远端解码 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1901952"/>
            <a:ext cx="38404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2C7B4"/>
                </a:solidFill>
                <a:latin typeface="PingFang SC"/>
              </a:defRPr>
            </a:pPr>
            <a:r>
              <a:t>02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09560" y="2596896"/>
            <a:ext cx="338328" cy="0"/>
          </a:xfrm>
          <a:prstGeom prst="line">
            <a:avLst/>
          </a:prstGeom>
          <a:ln w="381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84463" y="1737360"/>
            <a:ext cx="3429000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4463" y="1737360"/>
            <a:ext cx="73152" cy="1719072"/>
          </a:xfrm>
          <a:prstGeom prst="rect">
            <a:avLst/>
          </a:prstGeom>
          <a:solidFill>
            <a:srgbClr val="F4B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1351" y="1938528"/>
            <a:ext cx="2971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接收端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1" y="2487168"/>
            <a:ext cx="2953512" cy="77723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采样远端像素</a:t>
            </a:r>
          </a:p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检查解码帧持续增加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27663" y="1901952"/>
            <a:ext cx="384048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4B759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886200"/>
            <a:ext cx="108356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087368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9243A"/>
                </a:solidFill>
                <a:latin typeface="PingFang SC"/>
              </a:defRPr>
            </a:pPr>
            <a:r>
              <a:t>三人视频矩阵</a:t>
            </a:r>
          </a:p>
        </p:txBody>
      </p:sp>
      <p:sp>
        <p:nvSpPr>
          <p:cNvPr id="29" name="Oval 28"/>
          <p:cNvSpPr/>
          <p:nvPr/>
        </p:nvSpPr>
        <p:spPr>
          <a:xfrm>
            <a:off x="3154680" y="4197096"/>
            <a:ext cx="512064" cy="512064"/>
          </a:xfrm>
          <a:prstGeom prst="ellipse">
            <a:avLst/>
          </a:prstGeom>
          <a:solidFill>
            <a:srgbClr val="EC6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72968" y="4315968"/>
            <a:ext cx="4754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4279392"/>
            <a:ext cx="160020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43A"/>
                </a:solidFill>
                <a:latin typeface="PingFang SC"/>
              </a:defRPr>
            </a:pPr>
            <a:r>
              <a:t>A 发送红色</a:t>
            </a:r>
          </a:p>
        </p:txBody>
      </p:sp>
      <p:sp>
        <p:nvSpPr>
          <p:cNvPr id="32" name="Oval 31"/>
          <p:cNvSpPr/>
          <p:nvPr/>
        </p:nvSpPr>
        <p:spPr>
          <a:xfrm>
            <a:off x="5788152" y="4197096"/>
            <a:ext cx="512064" cy="512064"/>
          </a:xfrm>
          <a:prstGeom prst="ellipse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4315968"/>
            <a:ext cx="4754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279392"/>
            <a:ext cx="160020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43A"/>
                </a:solidFill>
                <a:latin typeface="PingFang SC"/>
              </a:defRPr>
            </a:pPr>
            <a:r>
              <a:t>B 发送绿色</a:t>
            </a:r>
          </a:p>
        </p:txBody>
      </p:sp>
      <p:sp>
        <p:nvSpPr>
          <p:cNvPr id="35" name="Oval 34"/>
          <p:cNvSpPr/>
          <p:nvPr/>
        </p:nvSpPr>
        <p:spPr>
          <a:xfrm>
            <a:off x="8421624" y="4197096"/>
            <a:ext cx="512064" cy="512064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9912" y="4315968"/>
            <a:ext cx="47548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1704" y="4279392"/>
            <a:ext cx="160020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9243A"/>
                </a:solidFill>
                <a:latin typeface="PingFang SC"/>
              </a:defRPr>
            </a:pPr>
            <a:r>
              <a:t>C 发送蓝色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4700016"/>
            <a:ext cx="103327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逐一验证 6 条接收链路，再轮换颜色；可发现黑屏、串流、冻结帧。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742432"/>
            <a:ext cx="1069848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2718A"/>
                </a:solidFill>
                <a:latin typeface="PingFang SC"/>
              </a:defRPr>
            </a:pPr>
            <a:r>
              <a:t>证据：远端帧 PNG、像素比例 JSON、发送/接收轨道 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2C7B4"/>
                </a:solidFill>
                <a:latin typeface="PingFang SC"/>
              </a:defRPr>
            </a:pPr>
            <a:r>
              <a:t>04 / 语音验证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642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FFFFF"/>
                </a:solidFill>
                <a:latin typeface="PingFang SC"/>
              </a:defRPr>
            </a:pPr>
            <a:r>
              <a:t>真实语音：让机器替我们“听”一次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91656"/>
            <a:ext cx="11064240" cy="0"/>
          </a:xfrm>
          <a:prstGeom prst="line">
            <a:avLst/>
          </a:prstGeom>
          <a:ln w="17780">
            <a:solidFill>
              <a:srgbClr val="35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73952"/>
            <a:ext cx="5029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8C9AB3"/>
                </a:solidFill>
                <a:latin typeface="PingFang SC"/>
              </a:defRPr>
            </a:pPr>
            <a:r>
              <a:t>CALLKIT · E2E 测试实践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8C9AB3"/>
                </a:solidFill>
                <a:latin typeface="PingFang SC"/>
              </a:defRPr>
            </a:pPr>
            <a:r>
              <a:t>05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6416" y="365760"/>
            <a:ext cx="1417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C9AB3"/>
                </a:solidFill>
                <a:latin typeface="PingFang SC"/>
              </a:defRPr>
            </a:pPr>
            <a:r>
              <a:t>约 2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54480"/>
            <a:ext cx="1088136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100" b="1">
                <a:solidFill>
                  <a:srgbClr val="FFFFFF"/>
                </a:solidFill>
                <a:latin typeface="PingFang SC"/>
              </a:defRPr>
            </a:pPr>
            <a:r>
              <a:t>固定中文句子：你好，现在开始语音通话测试。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423160"/>
            <a:ext cx="2578608" cy="1554480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15768"/>
            <a:ext cx="420624" cy="420624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798064"/>
            <a:ext cx="40233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670048"/>
            <a:ext cx="15544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FFFFFF"/>
                </a:solidFill>
                <a:latin typeface="PingFang SC"/>
              </a:defRPr>
            </a:pPr>
            <a:r>
              <a:t>发送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246120"/>
            <a:ext cx="21579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9C5D8"/>
                </a:solidFill>
                <a:latin typeface="PingFang SC"/>
              </a:defRPr>
            </a:pPr>
            <a:r>
              <a:t>音频送入主叫 RTC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64408" y="3182112"/>
            <a:ext cx="265176" cy="0"/>
          </a:xfrm>
          <a:prstGeom prst="line">
            <a:avLst/>
          </a:prstGeom>
          <a:ln w="381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47872" y="2423160"/>
            <a:ext cx="2578608" cy="1554480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9039" y="2715768"/>
            <a:ext cx="420624" cy="420624"/>
          </a:xfrm>
          <a:prstGeom prst="ellipse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58184" y="2798064"/>
            <a:ext cx="40233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2670048"/>
            <a:ext cx="15544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FFFFFF"/>
                </a:solidFill>
                <a:latin typeface="PingFang SC"/>
              </a:defRPr>
            </a:pPr>
            <a:r>
              <a:t>传输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3246120"/>
            <a:ext cx="21579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9C5D8"/>
                </a:solidFill>
                <a:latin typeface="PingFang SC"/>
              </a:defRPr>
            </a:pPr>
            <a:r>
              <a:t>真实通话远端音轨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44768" y="3182112"/>
            <a:ext cx="265176" cy="0"/>
          </a:xfrm>
          <a:prstGeom prst="line">
            <a:avLst/>
          </a:prstGeom>
          <a:ln w="381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28231" y="2423160"/>
            <a:ext cx="2578608" cy="1554480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9399" y="2715768"/>
            <a:ext cx="420624" cy="420624"/>
          </a:xfrm>
          <a:prstGeom prst="ellipse">
            <a:avLst/>
          </a:prstGeom>
          <a:solidFill>
            <a:srgbClr val="F4B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2798064"/>
            <a:ext cx="40233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1" y="2670048"/>
            <a:ext cx="15544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FFFFFF"/>
                </a:solidFill>
                <a:latin typeface="PingFang SC"/>
              </a:defRPr>
            </a:pPr>
            <a:r>
              <a:t>录制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3246120"/>
            <a:ext cx="21579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9C5D8"/>
                </a:solidFill>
                <a:latin typeface="PingFang SC"/>
              </a:defRPr>
            </a:pPr>
            <a:r>
              <a:t>被叫保存远端 WAV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25128" y="3182112"/>
            <a:ext cx="265176" cy="0"/>
          </a:xfrm>
          <a:prstGeom prst="line">
            <a:avLst/>
          </a:prstGeom>
          <a:ln w="38100">
            <a:solidFill>
              <a:srgbClr val="22C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08592" y="2423160"/>
            <a:ext cx="2578608" cy="1554480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09760" y="2715768"/>
            <a:ext cx="420624" cy="420624"/>
          </a:xfrm>
          <a:prstGeom prst="ellipse">
            <a:avLst/>
          </a:prstGeom>
          <a:solidFill>
            <a:srgbClr val="EC6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18904" y="2798064"/>
            <a:ext cx="40233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670048"/>
            <a:ext cx="15544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FFFFFF"/>
                </a:solidFill>
                <a:latin typeface="PingFang SC"/>
              </a:defRPr>
            </a:pPr>
            <a:r>
              <a:t>识别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3246120"/>
            <a:ext cx="2157984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9C5D8"/>
                </a:solidFill>
                <a:latin typeface="PingFang SC"/>
              </a:defRPr>
            </a:pPr>
            <a:r>
              <a:t>本地 ASR 得到文本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" y="4416552"/>
            <a:ext cx="10817352" cy="978408"/>
          </a:xfrm>
          <a:prstGeom prst="roundRect">
            <a:avLst>
              <a:gd name="adj" fmla="val 12000"/>
            </a:avLst>
          </a:prstGeom>
          <a:solidFill>
            <a:srgbClr val="263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4709160"/>
            <a:ext cx="10195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断言：录音长度 + 识别文本与原句按顺序匹配（容忍简繁差异）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769864"/>
            <a:ext cx="10744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B9C5D8"/>
                </a:solidFill>
                <a:latin typeface="PingFang SC"/>
              </a:defRPr>
            </a:pPr>
            <a:r>
              <a:t>失败时保留接收端 WAV 与识别结果；比“麦克风图标亮着”更有说服力。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5B8DEF"/>
                </a:solidFill>
                <a:latin typeface="PingFang SC"/>
              </a:defRPr>
            </a:pPr>
            <a:r>
              <a:t>05 / 复杂场景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642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9243A"/>
                </a:solidFill>
                <a:latin typeface="PingFang SC"/>
              </a:defRPr>
            </a:pPr>
            <a:r>
              <a:t>更难的场景：竞态、掉线、多设备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91656"/>
            <a:ext cx="11064240" cy="0"/>
          </a:xfrm>
          <a:prstGeom prst="line">
            <a:avLst/>
          </a:prstGeom>
          <a:ln w="1778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73952"/>
            <a:ext cx="5029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18A"/>
                </a:solidFill>
                <a:latin typeface="PingFang SC"/>
              </a:defRPr>
            </a:pPr>
            <a:r>
              <a:t>CALLKIT · E2E 测试实践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2718A"/>
                </a:solidFill>
                <a:latin typeface="PingFang SC"/>
              </a:defRPr>
            </a:pPr>
            <a:r>
              <a:t>06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6416" y="365760"/>
            <a:ext cx="1417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2718A"/>
                </a:solidFill>
                <a:latin typeface="PingFang SC"/>
              </a:defRPr>
            </a:pPr>
            <a:r>
              <a:t>约 1.5 分钟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64792"/>
            <a:ext cx="3493008" cy="2852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64792"/>
            <a:ext cx="73152" cy="2852928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1965960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同账号多端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14600"/>
            <a:ext cx="3017520" cy="19110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不同 deviceId 同时在线；接听后核对服务端 deviceUuid 与本机归属。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764792"/>
            <a:ext cx="3493008" cy="2852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1764792"/>
            <a:ext cx="73152" cy="2852928"/>
          </a:xfrm>
          <a:prstGeom prst="rect">
            <a:avLst/>
          </a:prstGeom>
          <a:solidFill>
            <a:srgbClr val="F4B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1" y="1965960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响应超时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514600"/>
            <a:ext cx="3017520" cy="19110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分别模拟请求未到达与服务端已处理；用快照判定最终状态。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764792"/>
            <a:ext cx="3493008" cy="2852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64792"/>
            <a:ext cx="73152" cy="2852928"/>
          </a:xfrm>
          <a:prstGeom prst="rect">
            <a:avLst/>
          </a:prstGeom>
          <a:solidFill>
            <a:srgbClr val="EC6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965960"/>
            <a:ext cx="3035808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成员故障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514600"/>
            <a:ext cx="3017520" cy="19110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异常掉线、视频发送中断与恢复；检查其他成员通话及远端媒体。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5056632"/>
            <a:ext cx="10844784" cy="731520"/>
          </a:xfrm>
          <a:prstGeom prst="roundRect">
            <a:avLst>
              <a:gd name="adj" fmla="val 12000"/>
            </a:avLst>
          </a:prstGeom>
          <a:solidFill>
            <a:srgbClr val="19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257800"/>
            <a:ext cx="103327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一个核心原则：以服务端状态和接收端结果共同判断，而不只看按钮。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2C7B4"/>
                </a:solidFill>
                <a:latin typeface="PingFang SC"/>
              </a:defRPr>
            </a:pPr>
            <a:r>
              <a:t>06 / 测试价值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642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FFFFF"/>
                </a:solidFill>
                <a:latin typeface="PingFang SC"/>
              </a:defRPr>
            </a:pPr>
            <a:r>
              <a:t>和手工测试相比，价值在哪里？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91656"/>
            <a:ext cx="11064240" cy="0"/>
          </a:xfrm>
          <a:prstGeom prst="line">
            <a:avLst/>
          </a:prstGeom>
          <a:ln w="17780">
            <a:solidFill>
              <a:srgbClr val="35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73952"/>
            <a:ext cx="5029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8C9AB3"/>
                </a:solidFill>
                <a:latin typeface="PingFang SC"/>
              </a:defRPr>
            </a:pPr>
            <a:r>
              <a:t>CALLKIT · E2E 测试实践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8C9AB3"/>
                </a:solidFill>
                <a:latin typeface="PingFang SC"/>
              </a:defRPr>
            </a:pPr>
            <a:r>
              <a:t>07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6416" y="365760"/>
            <a:ext cx="1417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C9AB3"/>
                </a:solidFill>
                <a:latin typeface="PingFang SC"/>
              </a:defRPr>
            </a:pPr>
            <a:r>
              <a:t>约 2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8488"/>
            <a:ext cx="22402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C7B4"/>
                </a:solidFill>
                <a:latin typeface="PingFang SC"/>
              </a:defRPr>
            </a:pPr>
            <a:r>
              <a:t>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618488"/>
            <a:ext cx="3813048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C7B4"/>
                </a:solidFill>
                <a:latin typeface="PingFang SC"/>
              </a:defRPr>
            </a:pPr>
            <a:r>
              <a:t>手工测试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618488"/>
            <a:ext cx="4754880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C7B4"/>
                </a:solidFill>
                <a:latin typeface="PingFang SC"/>
              </a:defRPr>
            </a:pPr>
            <a:r>
              <a:t>E2E 自动化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121408"/>
            <a:ext cx="10863072" cy="649224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76856"/>
            <a:ext cx="181051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协同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240279"/>
            <a:ext cx="3749039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9C5D8"/>
                </a:solidFill>
                <a:latin typeface="PingFang SC"/>
              </a:defRPr>
            </a:pPr>
            <a:r>
              <a:t>人工协调多个账号、设备和操作时机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240279"/>
            <a:ext cx="460857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独立浏览器上下文重复竞态时序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2880360"/>
            <a:ext cx="10863072" cy="649224"/>
          </a:xfrm>
          <a:prstGeom prst="roundRect">
            <a:avLst>
              <a:gd name="adj" fmla="val 12000"/>
            </a:avLst>
          </a:prstGeom>
          <a:solidFill>
            <a:srgbClr val="1C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35808"/>
            <a:ext cx="181051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2999232"/>
            <a:ext cx="3749039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9C5D8"/>
                </a:solidFill>
                <a:latin typeface="PingFang SC"/>
              </a:defRPr>
            </a:pPr>
            <a:r>
              <a:t>靠观察画面、听声音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999232"/>
            <a:ext cx="460857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验证远端像素、视频新帧、WAV 识别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3639311"/>
            <a:ext cx="10863072" cy="649224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59"/>
            <a:ext cx="181051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3758183"/>
            <a:ext cx="3749039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9C5D8"/>
                </a:solidFill>
                <a:latin typeface="PingFang SC"/>
              </a:defRPr>
            </a:pPr>
            <a:r>
              <a:t>复现后再补日志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3758183"/>
            <a:ext cx="460857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快照、trace、媒体附件随失败保存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398264"/>
            <a:ext cx="10863072" cy="649224"/>
          </a:xfrm>
          <a:prstGeom prst="roundRect">
            <a:avLst>
              <a:gd name="adj" fmla="val 12000"/>
            </a:avLst>
          </a:prstGeom>
          <a:solidFill>
            <a:srgbClr val="1C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1810512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回归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517136"/>
            <a:ext cx="3749039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B9C5D8"/>
                </a:solidFill>
                <a:latin typeface="PingFang SC"/>
              </a:defRPr>
            </a:pPr>
            <a:r>
              <a:t>每轮重复执行，容易漏边界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4517136"/>
            <a:ext cx="460857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PingFang SC"/>
              </a:defRPr>
            </a:pPr>
            <a:r>
              <a:t>同一批场景可持续重复运行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632704"/>
            <a:ext cx="10735056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B9C5D8"/>
                </a:solidFill>
                <a:latin typeface="PingFang SC"/>
              </a:defRPr>
            </a:pPr>
            <a:r>
              <a:t>手工仍适合主观体验与真实硬件；自动化承担高频、可重复的客观回归。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5B8DEF"/>
                </a:solidFill>
                <a:latin typeface="PingFang SC"/>
              </a:defRPr>
            </a:pPr>
            <a:r>
              <a:t>07 / 排障实例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642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19243A"/>
                </a:solidFill>
                <a:latin typeface="PingFang SC"/>
              </a:defRPr>
            </a:pPr>
            <a:r>
              <a:t>一次失败，如何缩短定位路径？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91656"/>
            <a:ext cx="11064240" cy="0"/>
          </a:xfrm>
          <a:prstGeom prst="line">
            <a:avLst/>
          </a:prstGeom>
          <a:ln w="1778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73952"/>
            <a:ext cx="5029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18A"/>
                </a:solidFill>
                <a:latin typeface="PingFang SC"/>
              </a:defRPr>
            </a:pPr>
            <a:r>
              <a:t>CALLKIT · E2E 测试实践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62718A"/>
                </a:solidFill>
                <a:latin typeface="PingFang SC"/>
              </a:defRPr>
            </a:pPr>
            <a:r>
              <a:t>08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6416" y="365760"/>
            <a:ext cx="1417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62718A"/>
                </a:solidFill>
                <a:latin typeface="PingFang SC"/>
              </a:defRPr>
            </a:pPr>
            <a:r>
              <a:t>约 1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36192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62718A"/>
                </a:solidFill>
                <a:latin typeface="PingFang SC"/>
              </a:defRPr>
            </a:pPr>
            <a:r>
              <a:t>以 WN-03 接听响应超时用例为例</a:t>
            </a:r>
          </a:p>
        </p:txBody>
      </p:sp>
      <p:sp>
        <p:nvSpPr>
          <p:cNvPr id="11" name="Oval 10"/>
          <p:cNvSpPr/>
          <p:nvPr/>
        </p:nvSpPr>
        <p:spPr>
          <a:xfrm>
            <a:off x="722376" y="2331720"/>
            <a:ext cx="521207" cy="521207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45059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71016" y="2596896"/>
            <a:ext cx="2148840" cy="0"/>
          </a:xfrm>
          <a:prstGeom prst="line">
            <a:avLst/>
          </a:prstGeom>
          <a:ln w="254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4088" y="3099816"/>
            <a:ext cx="245973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现象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648456"/>
            <a:ext cx="2496312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界面没有按预期收敛</a:t>
            </a:r>
          </a:p>
        </p:txBody>
      </p:sp>
      <p:sp>
        <p:nvSpPr>
          <p:cNvPr id="16" name="Oval 15"/>
          <p:cNvSpPr/>
          <p:nvPr/>
        </p:nvSpPr>
        <p:spPr>
          <a:xfrm>
            <a:off x="3593592" y="2331720"/>
            <a:ext cx="521207" cy="521207"/>
          </a:xfrm>
          <a:prstGeom prst="ellipse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245059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42232" y="2596896"/>
            <a:ext cx="2148840" cy="0"/>
          </a:xfrm>
          <a:prstGeom prst="line">
            <a:avLst/>
          </a:prstGeom>
          <a:ln w="254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75304" y="3099816"/>
            <a:ext cx="245973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快照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3648456"/>
            <a:ext cx="2496312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检查服务端参与者状态</a:t>
            </a:r>
          </a:p>
        </p:txBody>
      </p:sp>
      <p:sp>
        <p:nvSpPr>
          <p:cNvPr id="21" name="Oval 20"/>
          <p:cNvSpPr/>
          <p:nvPr/>
        </p:nvSpPr>
        <p:spPr>
          <a:xfrm>
            <a:off x="6464808" y="2331720"/>
            <a:ext cx="521207" cy="521207"/>
          </a:xfrm>
          <a:prstGeom prst="ellipse">
            <a:avLst/>
          </a:prstGeom>
          <a:solidFill>
            <a:srgbClr val="F4B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45059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13448" y="2596896"/>
            <a:ext cx="2148840" cy="0"/>
          </a:xfrm>
          <a:prstGeom prst="line">
            <a:avLst/>
          </a:prstGeom>
          <a:ln w="25400">
            <a:solidFill>
              <a:srgbClr val="DC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46520" y="3099816"/>
            <a:ext cx="245973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648456"/>
            <a:ext cx="2496312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发现更早的 busy 1704</a:t>
            </a:r>
          </a:p>
        </p:txBody>
      </p:sp>
      <p:sp>
        <p:nvSpPr>
          <p:cNvPr id="26" name="Oval 25"/>
          <p:cNvSpPr/>
          <p:nvPr/>
        </p:nvSpPr>
        <p:spPr>
          <a:xfrm>
            <a:off x="9336024" y="2331720"/>
            <a:ext cx="521207" cy="521207"/>
          </a:xfrm>
          <a:prstGeom prst="ellipse">
            <a:avLst/>
          </a:prstGeom>
          <a:solidFill>
            <a:srgbClr val="EC6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45059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3099816"/>
            <a:ext cx="245973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19243A"/>
                </a:solidFill>
                <a:latin typeface="PingFang SC"/>
              </a:defRPr>
            </a:pPr>
            <a:r>
              <a:t>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3648456"/>
            <a:ext cx="2496312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62718A"/>
                </a:solidFill>
                <a:latin typeface="PingFang SC"/>
              </a:defRPr>
            </a:pPr>
            <a:r>
              <a:t>先处理前置状态，再判断超时分支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" y="4901184"/>
            <a:ext cx="1083564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102352"/>
            <a:ext cx="10332720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9243A"/>
                </a:solidFill>
                <a:latin typeface="PingFang SC"/>
              </a:defRPr>
            </a:pPr>
            <a:r>
              <a:t>收获：失败不只有“红灯”，还留下能区分环境、SDK、CallKit 与用例的问题证据。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2C7B4"/>
                </a:solidFill>
                <a:latin typeface="PingFang SC"/>
              </a:defRPr>
            </a:pPr>
            <a:r>
              <a:t>08 /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106424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FFFFF"/>
                </a:solidFill>
                <a:latin typeface="PingFang SC"/>
              </a:defRPr>
            </a:pPr>
            <a:r>
              <a:t>把“能连上”升级为“结果可信”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391656"/>
            <a:ext cx="11064240" cy="0"/>
          </a:xfrm>
          <a:prstGeom prst="line">
            <a:avLst/>
          </a:prstGeom>
          <a:ln w="17780">
            <a:solidFill>
              <a:srgbClr val="354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73952"/>
            <a:ext cx="50292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8C9AB3"/>
                </a:solidFill>
                <a:latin typeface="PingFang SC"/>
              </a:defRPr>
            </a:pPr>
            <a:r>
              <a:t>CALLKIT · E2E 测试实践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900" b="0">
                <a:solidFill>
                  <a:srgbClr val="8C9AB3"/>
                </a:solidFill>
                <a:latin typeface="PingFang SC"/>
              </a:defRPr>
            </a:pPr>
            <a:r>
              <a:t>09 /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6416" y="365760"/>
            <a:ext cx="1417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C9AB3"/>
                </a:solidFill>
                <a:latin typeface="PingFang SC"/>
              </a:defRPr>
            </a:pPr>
            <a:r>
              <a:t>约 1 分钟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1993392"/>
            <a:ext cx="3456432" cy="2048256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2340864"/>
            <a:ext cx="557784" cy="557784"/>
          </a:xfrm>
          <a:prstGeom prst="ellipse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68880"/>
            <a:ext cx="53949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340864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FFFFF"/>
                </a:solidFill>
                <a:latin typeface="PingFang SC"/>
              </a:defRPr>
            </a:pPr>
            <a:r>
              <a:t>状态正确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136392"/>
            <a:ext cx="2852928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B9C5D8"/>
                </a:solidFill>
                <a:latin typeface="PingFang SC"/>
              </a:defRPr>
            </a:pPr>
            <a:r>
              <a:t>服务端快照与 UI 一致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98848" y="1993392"/>
            <a:ext cx="3456432" cy="2048256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2340864"/>
            <a:ext cx="557784" cy="557784"/>
          </a:xfrm>
          <a:prstGeom prst="ellipse">
            <a:avLst/>
          </a:prstGeom>
          <a:solidFill>
            <a:srgbClr val="22C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2468880"/>
            <a:ext cx="53949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340864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FFFFF"/>
                </a:solidFill>
                <a:latin typeface="PingFang SC"/>
              </a:defRPr>
            </a:pPr>
            <a:r>
              <a:t>归属正确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136392"/>
            <a:ext cx="2852928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B9C5D8"/>
                </a:solidFill>
                <a:latin typeface="PingFang SC"/>
              </a:defRPr>
            </a:pPr>
            <a:r>
              <a:t>接听设备与 RTC 参与者一致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993392"/>
            <a:ext cx="3456432" cy="2048256"/>
          </a:xfrm>
          <a:prstGeom prst="roundRect">
            <a:avLst>
              <a:gd name="adj" fmla="val 12000"/>
            </a:avLst>
          </a:prstGeom>
          <a:solidFill>
            <a:srgbClr val="17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60" y="2340864"/>
            <a:ext cx="557784" cy="557784"/>
          </a:xfrm>
          <a:prstGeom prst="ellipse">
            <a:avLst/>
          </a:prstGeom>
          <a:solidFill>
            <a:srgbClr val="F4B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4504" y="2468880"/>
            <a:ext cx="53949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340864"/>
            <a:ext cx="213969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FFFFFF"/>
                </a:solidFill>
                <a:latin typeface="PingFang SC"/>
              </a:defRPr>
            </a:pPr>
            <a:r>
              <a:t>内容正确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136392"/>
            <a:ext cx="2852928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B9C5D8"/>
                </a:solidFill>
                <a:latin typeface="PingFang SC"/>
              </a:defRPr>
            </a:pPr>
            <a:r>
              <a:t>远端真的听见、看见新内容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764024"/>
            <a:ext cx="1065276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FFFFFF"/>
                </a:solidFill>
                <a:latin typeface="PingFang SC"/>
              </a:defRPr>
            </a:pPr>
            <a:r>
              <a:t>下一步：把失败归因与环境就绪检查继续沉淀到回归流程。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641848"/>
            <a:ext cx="10716768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22C7B4"/>
                </a:solidFill>
                <a:latin typeface="PingFang SC"/>
              </a:defRPr>
            </a:pPr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